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4492"/>
    <a:srgbClr val="9EF2F8"/>
    <a:srgbClr val="AA2C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64" d="100"/>
          <a:sy n="64" d="100"/>
        </p:scale>
        <p:origin x="680" y="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C91DCB-8C39-491A-BF70-6ADEE79CA034}" type="datetimeFigureOut">
              <a:rPr lang="fr-FR" smtClean="0"/>
              <a:t>03/07/2026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491869-FBD2-4D7B-ADB9-3C36D2158AD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6065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491869-FBD2-4D7B-ADB9-3C36D2158AD7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85971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491869-FBD2-4D7B-ADB9-3C36D2158AD7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38995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D9D84-B764-4649-92D9-1E764D4B3F8A}" type="datetimeFigureOut">
              <a:rPr lang="fr-FR" smtClean="0"/>
              <a:t>03/07/2026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82E78-C135-47BB-9781-BA6AA292867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3652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D9D84-B764-4649-92D9-1E764D4B3F8A}" type="datetimeFigureOut">
              <a:rPr lang="fr-FR" smtClean="0"/>
              <a:t>03/07/2026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82E78-C135-47BB-9781-BA6AA292867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66055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D9D84-B764-4649-92D9-1E764D4B3F8A}" type="datetimeFigureOut">
              <a:rPr lang="fr-FR" smtClean="0"/>
              <a:t>03/07/2026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82E78-C135-47BB-9781-BA6AA292867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5345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D9D84-B764-4649-92D9-1E764D4B3F8A}" type="datetimeFigureOut">
              <a:rPr lang="fr-FR" smtClean="0"/>
              <a:t>03/07/2026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82E78-C135-47BB-9781-BA6AA292867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2302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D9D84-B764-4649-92D9-1E764D4B3F8A}" type="datetimeFigureOut">
              <a:rPr lang="fr-FR" smtClean="0"/>
              <a:t>03/07/2026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82E78-C135-47BB-9781-BA6AA292867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5988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D9D84-B764-4649-92D9-1E764D4B3F8A}" type="datetimeFigureOut">
              <a:rPr lang="fr-FR" smtClean="0"/>
              <a:t>03/07/2026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82E78-C135-47BB-9781-BA6AA292867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1855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D9D84-B764-4649-92D9-1E764D4B3F8A}" type="datetimeFigureOut">
              <a:rPr lang="fr-FR" smtClean="0"/>
              <a:t>03/07/2026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82E78-C135-47BB-9781-BA6AA292867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1601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D9D84-B764-4649-92D9-1E764D4B3F8A}" type="datetimeFigureOut">
              <a:rPr lang="fr-FR" smtClean="0"/>
              <a:t>03/07/2026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82E78-C135-47BB-9781-BA6AA292867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41666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D9D84-B764-4649-92D9-1E764D4B3F8A}" type="datetimeFigureOut">
              <a:rPr lang="fr-FR" smtClean="0"/>
              <a:t>03/07/2026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82E78-C135-47BB-9781-BA6AA292867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4382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D9D84-B764-4649-92D9-1E764D4B3F8A}" type="datetimeFigureOut">
              <a:rPr lang="fr-FR" smtClean="0"/>
              <a:t>03/07/2026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82E78-C135-47BB-9781-BA6AA292867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0785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7D9D84-B764-4649-92D9-1E764D4B3F8A}" type="datetimeFigureOut">
              <a:rPr lang="fr-FR" smtClean="0"/>
              <a:t>03/07/2026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482E78-C135-47BB-9781-BA6AA292867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9854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7D9D84-B764-4649-92D9-1E764D4B3F8A}" type="datetimeFigureOut">
              <a:rPr lang="fr-FR" smtClean="0"/>
              <a:t>03/07/2026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482E78-C135-47BB-9781-BA6AA292867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9267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slide" Target="slide10.xml"/><Relationship Id="rId4" Type="http://schemas.openxmlformats.org/officeDocument/2006/relationships/hyperlink" Target="https://maimounaboye.github.io/Boye-SokhnaMaimouna-AfriTalent/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aimounaboye.github.io/Boye-SokhnaMaimouna-AfriTalent/" TargetMode="Externa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/>
          <p:cNvSpPr txBox="1"/>
          <p:nvPr/>
        </p:nvSpPr>
        <p:spPr>
          <a:xfrm>
            <a:off x="861923" y="5280658"/>
            <a:ext cx="7366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solidFill>
                  <a:schemeClr val="bg1"/>
                </a:solidFill>
              </a:rPr>
              <a:t>-</a:t>
            </a:r>
            <a:r>
              <a:rPr lang="fr-FR" sz="2800" dirty="0" smtClean="0">
                <a:solidFill>
                  <a:schemeClr val="bg1"/>
                </a:solidFill>
              </a:rPr>
              <a:t>Présenté par : Sokhna Maimouna Boye</a:t>
            </a:r>
          </a:p>
          <a:p>
            <a:r>
              <a:rPr lang="fr-FR" sz="2800" dirty="0" smtClean="0">
                <a:solidFill>
                  <a:schemeClr val="bg1"/>
                </a:solidFill>
              </a:rPr>
              <a:t>-Classe:  Réseaux Télécommunications</a:t>
            </a:r>
          </a:p>
          <a:p>
            <a:r>
              <a:rPr lang="fr-FR" sz="2800" dirty="0" smtClean="0">
                <a:solidFill>
                  <a:schemeClr val="bg1"/>
                </a:solidFill>
              </a:rPr>
              <a:t>-Date :  03 Juillet 2026</a:t>
            </a:r>
            <a:endParaRPr lang="fr-FR" sz="2800" dirty="0">
              <a:solidFill>
                <a:schemeClr val="bg1"/>
              </a:solidFill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239" y="173800"/>
            <a:ext cx="1594884" cy="1063256"/>
          </a:xfrm>
          <a:prstGeom prst="rect">
            <a:avLst/>
          </a:prstGeom>
        </p:spPr>
      </p:pic>
      <p:sp>
        <p:nvSpPr>
          <p:cNvPr id="4" name="ZoneTexte 3"/>
          <p:cNvSpPr txBox="1"/>
          <p:nvPr/>
        </p:nvSpPr>
        <p:spPr>
          <a:xfrm>
            <a:off x="2037513" y="129060"/>
            <a:ext cx="405848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6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Afri</a:t>
            </a:r>
            <a:r>
              <a:rPr lang="fr-FR" sz="66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Talent</a:t>
            </a:r>
            <a:endParaRPr lang="fr-FR" sz="6600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211436" y="1314000"/>
            <a:ext cx="6096000" cy="9541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sz="28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Valoriser les talents créatifs africains à travers le numérique</a:t>
            </a:r>
            <a:endParaRPr lang="fr-FR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367123" y="2345052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Plateforme digitale dédiée à la mise en lumière des artistes, photographes et créateurs africains.</a:t>
            </a:r>
          </a:p>
        </p:txBody>
      </p:sp>
    </p:spTree>
    <p:extLst>
      <p:ext uri="{BB962C8B-B14F-4D97-AF65-F5344CB8AC3E}">
        <p14:creationId xmlns:p14="http://schemas.microsoft.com/office/powerpoint/2010/main" val="355049430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805172" y="782121"/>
            <a:ext cx="9076267" cy="8987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AutoNum type="arabicPeriod"/>
            </a:pPr>
            <a:r>
              <a:rPr lang="fr-FR" sz="4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Présentation  du projet</a:t>
            </a:r>
          </a:p>
          <a:p>
            <a:pPr marL="342900" indent="-342900" algn="just">
              <a:buAutoNum type="arabicPeriod"/>
            </a:pPr>
            <a:r>
              <a:rPr lang="fr-FR" sz="4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Choix de Design &amp; Identité Visuelle</a:t>
            </a:r>
          </a:p>
          <a:p>
            <a:pPr marL="342900" indent="-342900" algn="just">
              <a:buAutoNum type="arabicPeriod"/>
            </a:pPr>
            <a:r>
              <a:rPr lang="fr-FR" sz="4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&amp; Arborescence du projet</a:t>
            </a:r>
          </a:p>
          <a:p>
            <a:pPr marL="342900" indent="-342900" algn="just">
              <a:buAutoNum type="arabicPeriod"/>
            </a:pPr>
            <a:r>
              <a:rPr lang="fr-FR" sz="4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Réalisation technique( JS,Boostrap, CSS)</a:t>
            </a:r>
          </a:p>
          <a:p>
            <a:pPr marL="342900" indent="-342900" algn="just">
              <a:buAutoNum type="arabicPeriod"/>
            </a:pPr>
            <a:r>
              <a:rPr lang="fr-FR" sz="4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endParaRPr lang="fr-FR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AutoNum type="arabicPeriod"/>
            </a:pPr>
            <a:r>
              <a:rPr lang="fr-FR" sz="4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Difficultés rencontrées et solutions</a:t>
            </a:r>
          </a:p>
          <a:p>
            <a:pPr marL="342900" indent="-342900" algn="just">
              <a:buFontTx/>
              <a:buAutoNum type="arabicPeriod"/>
            </a:pPr>
            <a:r>
              <a:rPr lang="fr-FR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Ressources et documentation </a:t>
            </a:r>
            <a:r>
              <a:rPr lang="fr-FR" sz="4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utilisées</a:t>
            </a:r>
          </a:p>
          <a:p>
            <a:pPr marL="342900" indent="-342900" algn="just">
              <a:buFontTx/>
              <a:buAutoNum type="arabicPeriod"/>
            </a:pPr>
            <a:r>
              <a:rPr lang="fr-FR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Démonstration live du </a:t>
            </a:r>
            <a:r>
              <a:rPr lang="fr-FR" sz="4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site</a:t>
            </a:r>
          </a:p>
          <a:p>
            <a:pPr marL="342900" indent="-342900" algn="just">
              <a:buFontTx/>
              <a:buAutoNum type="arabicPeriod"/>
            </a:pPr>
            <a:r>
              <a:rPr lang="fr-FR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et perspectives d'amélioration</a:t>
            </a:r>
          </a:p>
          <a:p>
            <a:pPr marL="342900" indent="-342900" algn="just">
              <a:buFontTx/>
              <a:buAutoNum type="arabicPeriod"/>
            </a:pPr>
            <a:endParaRPr lang="fr-FR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Tx/>
              <a:buAutoNum type="arabicPeriod"/>
            </a:pPr>
            <a:endParaRPr lang="fr-FR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AutoNum type="arabicPeriod"/>
            </a:pPr>
            <a:endParaRPr lang="fr-FR" sz="40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AutoNum type="arabicPeriod"/>
            </a:pPr>
            <a:endParaRPr lang="fr-FR" sz="40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fr-FR" sz="40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2756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02534" y="121948"/>
            <a:ext cx="1043297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6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1-Présentation </a:t>
            </a:r>
            <a:r>
              <a:rPr lang="fr-FR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 projet : contexte, objectif, public cible</a:t>
            </a:r>
          </a:p>
        </p:txBody>
      </p:sp>
      <p:sp>
        <p:nvSpPr>
          <p:cNvPr id="10" name="Rectangle à coins arrondis 9"/>
          <p:cNvSpPr/>
          <p:nvPr/>
        </p:nvSpPr>
        <p:spPr>
          <a:xfrm>
            <a:off x="223284" y="1392865"/>
            <a:ext cx="4742121" cy="2530548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 Contexte</a:t>
            </a:r>
          </a:p>
          <a:p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Croissance explosive du marché du freelance tech en Afrique.</a:t>
            </a:r>
          </a:p>
          <a:p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Besoin d'une plateforme moderne, fiable et rapide pour connecter les profils.</a:t>
            </a:r>
          </a:p>
        </p:txBody>
      </p:sp>
      <p:sp>
        <p:nvSpPr>
          <p:cNvPr id="11" name="Rectangle à coins arrondis 10"/>
          <p:cNvSpPr/>
          <p:nvPr/>
        </p:nvSpPr>
        <p:spPr>
          <a:xfrm>
            <a:off x="6804837" y="1467292"/>
            <a:ext cx="4901609" cy="2456121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L'Objectif du site vitrine</a:t>
            </a:r>
          </a:p>
          <a:p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Concevoir une application de 5 pages pour présenter les services d‘ AfriTalent.</a:t>
            </a:r>
          </a:p>
          <a:p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Optimiser l'expérience utilisateur pour maximiser les inscriptions.</a:t>
            </a:r>
          </a:p>
        </p:txBody>
      </p:sp>
      <p:sp>
        <p:nvSpPr>
          <p:cNvPr id="12" name="Rectangle à coins arrondis 11"/>
          <p:cNvSpPr/>
          <p:nvPr/>
        </p:nvSpPr>
        <p:spPr>
          <a:xfrm>
            <a:off x="3009013" y="4420408"/>
            <a:ext cx="5401340" cy="2264735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Cible</a:t>
            </a:r>
          </a:p>
          <a:p>
            <a:r>
              <a:rPr lang="fr-FR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Freelances :</a:t>
            </a:r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Développeurs, designers, </a:t>
            </a:r>
            <a:r>
              <a:rPr lang="fr-FR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marketing, </a:t>
            </a:r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experts data &amp; cloud.</a:t>
            </a:r>
          </a:p>
          <a:p>
            <a:r>
              <a:rPr lang="fr-FR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Entreprises :</a:t>
            </a:r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Startups et PME à la recherche d'expertises tech locales.</a:t>
            </a:r>
          </a:p>
        </p:txBody>
      </p:sp>
    </p:spTree>
    <p:extLst>
      <p:ext uri="{BB962C8B-B14F-4D97-AF65-F5344CB8AC3E}">
        <p14:creationId xmlns:p14="http://schemas.microsoft.com/office/powerpoint/2010/main" val="589131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90799" y="4464272"/>
            <a:ext cx="7531395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600" b="1" dirty="0">
                <a:solidFill>
                  <a:schemeClr val="bg1"/>
                </a:solidFill>
              </a:rPr>
              <a:t>Typographie (Google Fonts</a:t>
            </a:r>
            <a:r>
              <a:rPr lang="fr-FR" sz="3600" b="1" dirty="0" smtClean="0">
                <a:solidFill>
                  <a:schemeClr val="bg1"/>
                </a:solidFill>
              </a:rPr>
              <a:t>)</a:t>
            </a:r>
            <a:endParaRPr lang="fr-FR" sz="3600" b="1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sz="2800" b="1" dirty="0" smtClean="0">
                <a:solidFill>
                  <a:schemeClr val="bg1"/>
                </a:solidFill>
              </a:rPr>
              <a:t>Titres</a:t>
            </a:r>
            <a:r>
              <a:rPr lang="fr-FR" b="1" dirty="0" smtClean="0">
                <a:solidFill>
                  <a:schemeClr val="bg1"/>
                </a:solidFill>
              </a:rPr>
              <a:t> :</a:t>
            </a:r>
            <a:r>
              <a:rPr lang="fr-FR" dirty="0" smtClean="0">
                <a:solidFill>
                  <a:schemeClr val="bg1"/>
                </a:solidFill>
                <a:latin typeface="Consolas" panose="020B0609020204030204" pitchFamily="49" charset="0"/>
              </a:rPr>
              <a:t>Inter',</a:t>
            </a:r>
            <a:r>
              <a:rPr lang="fr-FR" dirty="0" err="1" smtClean="0">
                <a:solidFill>
                  <a:schemeClr val="bg1"/>
                </a:solidFill>
                <a:latin typeface="Consolas" panose="020B0609020204030204" pitchFamily="49" charset="0"/>
              </a:rPr>
              <a:t>sans-serif</a:t>
            </a:r>
            <a:r>
              <a:rPr lang="fr-FR" dirty="0" smtClean="0">
                <a:solidFill>
                  <a:schemeClr val="bg1"/>
                </a:solidFill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800" b="1" dirty="0" smtClean="0">
                <a:solidFill>
                  <a:schemeClr val="bg1"/>
                </a:solidFill>
              </a:rPr>
              <a:t>Corps </a:t>
            </a:r>
            <a:r>
              <a:rPr lang="fr-FR" sz="2800" b="1" dirty="0">
                <a:solidFill>
                  <a:schemeClr val="bg1"/>
                </a:solidFill>
              </a:rPr>
              <a:t>de texte </a:t>
            </a:r>
            <a:r>
              <a:rPr lang="fr-FR" b="1" dirty="0" smtClean="0">
                <a:solidFill>
                  <a:schemeClr val="bg1"/>
                </a:solidFill>
              </a:rPr>
              <a:t>:</a:t>
            </a:r>
            <a:r>
              <a:rPr lang="fr-FR" dirty="0">
                <a:solidFill>
                  <a:schemeClr val="bg1"/>
                </a:solidFill>
                <a:latin typeface="Consolas" panose="020B0609020204030204" pitchFamily="49" charset="0"/>
              </a:rPr>
              <a:t> </a:t>
            </a:r>
            <a:r>
              <a:rPr lang="fr-FR" dirty="0" smtClean="0">
                <a:solidFill>
                  <a:schemeClr val="bg1"/>
                </a:solidFill>
                <a:latin typeface="Consolas" panose="020B0609020204030204" pitchFamily="49" charset="0"/>
              </a:rPr>
              <a:t>'Plus </a:t>
            </a:r>
            <a:r>
              <a:rPr lang="fr-FR" dirty="0">
                <a:solidFill>
                  <a:schemeClr val="bg1"/>
                </a:solidFill>
                <a:latin typeface="Consolas" panose="020B0609020204030204" pitchFamily="49" charset="0"/>
              </a:rPr>
              <a:t>Jakarta Sans', </a:t>
            </a:r>
            <a:r>
              <a:rPr lang="fr-FR" dirty="0" smtClean="0">
                <a:solidFill>
                  <a:schemeClr val="bg1"/>
                </a:solidFill>
                <a:latin typeface="Consolas" panose="020B0609020204030204" pitchFamily="49" charset="0"/>
              </a:rPr>
              <a:t>sans-</a:t>
            </a:r>
            <a:r>
              <a:rPr lang="fr-FR" dirty="0" err="1" smtClean="0">
                <a:solidFill>
                  <a:schemeClr val="bg1"/>
                </a:solidFill>
                <a:latin typeface="Consolas" panose="020B0609020204030204" pitchFamily="49" charset="0"/>
              </a:rPr>
              <a:t>serif</a:t>
            </a:r>
            <a:endParaRPr lang="fr-FR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2" name="Ellipse 1"/>
          <p:cNvSpPr/>
          <p:nvPr/>
        </p:nvSpPr>
        <p:spPr>
          <a:xfrm>
            <a:off x="457200" y="1797335"/>
            <a:ext cx="1225296" cy="1170432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/>
          <p:cNvSpPr/>
          <p:nvPr/>
        </p:nvSpPr>
        <p:spPr>
          <a:xfrm>
            <a:off x="2429692" y="1797335"/>
            <a:ext cx="1224000" cy="1170000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/>
          <p:cNvSpPr/>
          <p:nvPr/>
        </p:nvSpPr>
        <p:spPr>
          <a:xfrm>
            <a:off x="4414800" y="1732466"/>
            <a:ext cx="1224000" cy="117000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llipse 6"/>
          <p:cNvSpPr/>
          <p:nvPr/>
        </p:nvSpPr>
        <p:spPr>
          <a:xfrm>
            <a:off x="6103604" y="1732466"/>
            <a:ext cx="1224000" cy="1170000"/>
          </a:xfrm>
          <a:prstGeom prst="ellipse">
            <a:avLst/>
          </a:prstGeom>
          <a:solidFill>
            <a:srgbClr val="9EF2F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llipse 7"/>
          <p:cNvSpPr/>
          <p:nvPr/>
        </p:nvSpPr>
        <p:spPr>
          <a:xfrm>
            <a:off x="10354835" y="1700784"/>
            <a:ext cx="1224000" cy="1170000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Ellipse 8"/>
          <p:cNvSpPr/>
          <p:nvPr/>
        </p:nvSpPr>
        <p:spPr>
          <a:xfrm>
            <a:off x="8074800" y="1732466"/>
            <a:ext cx="1224000" cy="1170000"/>
          </a:xfrm>
          <a:prstGeom prst="ellipse">
            <a:avLst/>
          </a:prstGeom>
          <a:solidFill>
            <a:srgbClr val="7F449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/>
          <p:cNvSpPr txBox="1"/>
          <p:nvPr/>
        </p:nvSpPr>
        <p:spPr>
          <a:xfrm>
            <a:off x="3733171" y="279311"/>
            <a:ext cx="55656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2-Choix de design</a:t>
            </a:r>
            <a:endParaRPr lang="fr-FR" sz="4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048000" y="2967335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dirty="0">
                <a:solidFill>
                  <a:srgbClr val="BBBEBF"/>
                </a:solidFill>
                <a:latin typeface="Consolas" panose="020B0609020204030204" pitchFamily="49" charset="0"/>
              </a:rPr>
              <a:t>    </a:t>
            </a:r>
          </a:p>
        </p:txBody>
      </p:sp>
    </p:spTree>
    <p:extLst>
      <p:ext uri="{BB962C8B-B14F-4D97-AF65-F5344CB8AC3E}">
        <p14:creationId xmlns:p14="http://schemas.microsoft.com/office/powerpoint/2010/main" val="3022747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88289" y="398766"/>
            <a:ext cx="7783034" cy="26468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4800" b="1" dirty="0">
                <a:solidFill>
                  <a:schemeClr val="bg1"/>
                </a:solidFill>
              </a:rPr>
              <a:t>Typographie (Google Fonts)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3200" b="1" dirty="0">
                <a:solidFill>
                  <a:schemeClr val="bg1"/>
                </a:solidFill>
              </a:rPr>
              <a:t>Titres</a:t>
            </a:r>
            <a:r>
              <a:rPr lang="fr-FR" b="1" dirty="0">
                <a:solidFill>
                  <a:schemeClr val="bg1"/>
                </a:solidFill>
              </a:rPr>
              <a:t> :</a:t>
            </a:r>
            <a:r>
              <a:rPr lang="fr-FR" dirty="0">
                <a:solidFill>
                  <a:schemeClr val="bg1"/>
                </a:solidFill>
                <a:latin typeface="Consolas" panose="020B0609020204030204" pitchFamily="49" charset="0"/>
              </a:rPr>
              <a:t>Inter', sans-</a:t>
            </a:r>
            <a:r>
              <a:rPr lang="fr-FR" dirty="0" err="1">
                <a:solidFill>
                  <a:schemeClr val="bg1"/>
                </a:solidFill>
                <a:latin typeface="Consolas" panose="020B0609020204030204" pitchFamily="49" charset="0"/>
              </a:rPr>
              <a:t>serif</a:t>
            </a:r>
            <a:r>
              <a:rPr lang="fr-FR" dirty="0">
                <a:solidFill>
                  <a:schemeClr val="bg1"/>
                </a:solidFill>
              </a:rPr>
              <a:t> (Expressive et </a:t>
            </a:r>
            <a:r>
              <a:rPr lang="fr-FR" dirty="0" smtClean="0">
                <a:solidFill>
                  <a:schemeClr val="bg1"/>
                </a:solidFill>
              </a:rPr>
              <a:t>impactante Parfaite pour capter l’attention sur les titres)</a:t>
            </a:r>
            <a:endParaRPr lang="fr-FR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sz="3200" b="1" dirty="0">
                <a:solidFill>
                  <a:schemeClr val="bg1"/>
                </a:solidFill>
              </a:rPr>
              <a:t>Corps de texte </a:t>
            </a:r>
            <a:r>
              <a:rPr lang="fr-FR" b="1" dirty="0">
                <a:solidFill>
                  <a:schemeClr val="bg1"/>
                </a:solidFill>
              </a:rPr>
              <a:t>:</a:t>
            </a:r>
            <a:r>
              <a:rPr lang="fr-FR" dirty="0">
                <a:solidFill>
                  <a:schemeClr val="bg1"/>
                </a:solidFill>
                <a:latin typeface="Consolas" panose="020B0609020204030204" pitchFamily="49" charset="0"/>
              </a:rPr>
              <a:t> 'Plus Jakarta Sans', </a:t>
            </a:r>
            <a:r>
              <a:rPr lang="fr-FR" dirty="0" smtClean="0">
                <a:solidFill>
                  <a:schemeClr val="bg1"/>
                </a:solidFill>
                <a:latin typeface="Consolas" panose="020B0609020204030204" pitchFamily="49" charset="0"/>
              </a:rPr>
              <a:t>sans-</a:t>
            </a:r>
            <a:r>
              <a:rPr lang="fr-FR" dirty="0" err="1" smtClean="0">
                <a:solidFill>
                  <a:schemeClr val="bg1"/>
                </a:solidFill>
                <a:latin typeface="Consolas" panose="020B0609020204030204" pitchFamily="49" charset="0"/>
              </a:rPr>
              <a:t>serif</a:t>
            </a:r>
            <a:r>
              <a:rPr lang="fr-FR" dirty="0" smtClean="0">
                <a:solidFill>
                  <a:schemeClr val="bg1"/>
                </a:solidFill>
                <a:latin typeface="Consolas" panose="020B0609020204030204" pitchFamily="49" charset="0"/>
              </a:rPr>
              <a:t> (Elle offre une lisibilité supérieur sur les long blocs de texte grâce à son œil ouvert et son espacement généreux)</a:t>
            </a:r>
            <a:endParaRPr lang="fr-FR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915975" y="3429000"/>
            <a:ext cx="7751135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 design </a:t>
            </a:r>
            <a:r>
              <a:rPr lang="fr-FR" sz="28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 </a:t>
            </a: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site s’inspire de sites web modernes et professionnels. Nous avons choisi un style minimaliste avec des couleurs simples afin de faciliter la lecture et l’expérience utilisateur.</a:t>
            </a:r>
          </a:p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L’objectif était de créer une interface claire, responsive et agréable à utiliser sur ordinateur et mobile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66977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4347" y="184615"/>
            <a:ext cx="3594328" cy="2072548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3462" y="2692869"/>
            <a:ext cx="3665213" cy="1472262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0359" y="4600837"/>
            <a:ext cx="3750480" cy="1679944"/>
          </a:xfrm>
          <a:prstGeom prst="rect">
            <a:avLst/>
          </a:prstGeom>
        </p:spPr>
      </p:pic>
      <p:sp>
        <p:nvSpPr>
          <p:cNvPr id="16" name="ZoneTexte 15"/>
          <p:cNvSpPr txBox="1"/>
          <p:nvPr/>
        </p:nvSpPr>
        <p:spPr>
          <a:xfrm>
            <a:off x="74428" y="259280"/>
            <a:ext cx="806434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3-Architecture: Arborescence , Captures des pages</a:t>
            </a:r>
            <a:endParaRPr lang="fr-FR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1257074" y="2440518"/>
            <a:ext cx="3974145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</a:rPr>
              <a:t> </a:t>
            </a:r>
            <a:r>
              <a:rPr lang="fr-FR" sz="2400" dirty="0">
                <a:solidFill>
                  <a:schemeClr val="bg1"/>
                </a:solidFill>
              </a:rPr>
              <a:t>index.html </a:t>
            </a:r>
          </a:p>
          <a:p>
            <a:r>
              <a:rPr lang="fr-FR" sz="2400" dirty="0" smtClean="0">
                <a:solidFill>
                  <a:schemeClr val="bg1"/>
                </a:solidFill>
              </a:rPr>
              <a:t> freelances.html</a:t>
            </a:r>
          </a:p>
          <a:p>
            <a:r>
              <a:rPr lang="fr-FR" sz="2400" dirty="0" smtClean="0">
                <a:solidFill>
                  <a:schemeClr val="bg1"/>
                </a:solidFill>
              </a:rPr>
              <a:t>tarifs.html </a:t>
            </a:r>
          </a:p>
          <a:p>
            <a:r>
              <a:rPr lang="fr-FR" sz="2400" dirty="0" smtClean="0">
                <a:solidFill>
                  <a:schemeClr val="bg1"/>
                </a:solidFill>
              </a:rPr>
              <a:t>about.html</a:t>
            </a:r>
          </a:p>
          <a:p>
            <a:r>
              <a:rPr lang="fr-FR" sz="2400" dirty="0" smtClean="0">
                <a:solidFill>
                  <a:schemeClr val="bg1"/>
                </a:solidFill>
              </a:rPr>
              <a:t>contact.html</a:t>
            </a:r>
          </a:p>
          <a:p>
            <a:r>
              <a:rPr lang="fr-FR" sz="2400" dirty="0" err="1" smtClean="0">
                <a:solidFill>
                  <a:schemeClr val="bg1"/>
                </a:solidFill>
              </a:rPr>
              <a:t>Css</a:t>
            </a:r>
            <a:r>
              <a:rPr lang="fr-FR" sz="2400" dirty="0" smtClean="0">
                <a:solidFill>
                  <a:schemeClr val="bg1"/>
                </a:solidFill>
              </a:rPr>
              <a:t>/</a:t>
            </a:r>
          </a:p>
          <a:p>
            <a:r>
              <a:rPr lang="fr-FR" sz="2400" dirty="0">
                <a:solidFill>
                  <a:schemeClr val="bg1"/>
                </a:solidFill>
              </a:rPr>
              <a:t> </a:t>
            </a:r>
            <a:r>
              <a:rPr lang="fr-FR" sz="2400" dirty="0" smtClean="0">
                <a:solidFill>
                  <a:schemeClr val="bg1"/>
                </a:solidFill>
              </a:rPr>
              <a:t>  style.css</a:t>
            </a:r>
          </a:p>
          <a:p>
            <a:r>
              <a:rPr lang="fr-FR" sz="2400" dirty="0" err="1" smtClean="0">
                <a:solidFill>
                  <a:schemeClr val="bg1"/>
                </a:solidFill>
              </a:rPr>
              <a:t>Js</a:t>
            </a:r>
            <a:r>
              <a:rPr lang="fr-FR" sz="2400" dirty="0" smtClean="0">
                <a:solidFill>
                  <a:schemeClr val="bg1"/>
                </a:solidFill>
              </a:rPr>
              <a:t>/</a:t>
            </a:r>
          </a:p>
          <a:p>
            <a:r>
              <a:rPr lang="fr-FR" sz="2400" dirty="0">
                <a:solidFill>
                  <a:schemeClr val="bg1"/>
                </a:solidFill>
              </a:rPr>
              <a:t> </a:t>
            </a:r>
            <a:r>
              <a:rPr lang="fr-FR" sz="2400" dirty="0" smtClean="0">
                <a:solidFill>
                  <a:schemeClr val="bg1"/>
                </a:solidFill>
              </a:rPr>
              <a:t>  main.js</a:t>
            </a:r>
          </a:p>
          <a:p>
            <a:endParaRPr lang="fr-FR" sz="2400" dirty="0" smtClean="0">
              <a:solidFill>
                <a:schemeClr val="bg1"/>
              </a:solidFill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637953" y="1917298"/>
            <a:ext cx="47421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Boye-</a:t>
            </a:r>
            <a:r>
              <a:rPr lang="fr-FR" sz="2400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SokhnaMaimouna</a:t>
            </a:r>
            <a:r>
              <a:rPr lang="fr-FR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-AfriTalen</a:t>
            </a:r>
            <a:r>
              <a:rPr lang="fr-FR" sz="28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t/</a:t>
            </a:r>
            <a:endParaRPr lang="fr-FR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1076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776" y="191386"/>
            <a:ext cx="4119544" cy="1949624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73" y="2354536"/>
            <a:ext cx="3994882" cy="2088998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73" y="4657060"/>
            <a:ext cx="4124847" cy="1839433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4530" y="191386"/>
            <a:ext cx="3886697" cy="1949624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915629" y="2354536"/>
            <a:ext cx="3585598" cy="1882057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5917" y="4657060"/>
            <a:ext cx="3429305" cy="1839433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8582" y="191386"/>
            <a:ext cx="2974190" cy="1949624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3308" y="4572000"/>
            <a:ext cx="3099753" cy="1707613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3308" y="2668772"/>
            <a:ext cx="2989584" cy="1520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510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483604" y="199687"/>
            <a:ext cx="885021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4-Points </a:t>
            </a:r>
            <a:r>
              <a:rPr lang="fr-FR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techniques : JS (extraits de code + logique), Bootstrap (composants utilisés), CSS avancé</a:t>
            </a:r>
          </a:p>
        </p:txBody>
      </p:sp>
      <p:sp>
        <p:nvSpPr>
          <p:cNvPr id="2" name="ZoneTexte 1"/>
          <p:cNvSpPr txBox="1"/>
          <p:nvPr/>
        </p:nvSpPr>
        <p:spPr>
          <a:xfrm>
            <a:off x="5762847" y="3429000"/>
            <a:ext cx="6166883" cy="25252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9" name="Rectangle à coins arrondis 8"/>
          <p:cNvSpPr/>
          <p:nvPr/>
        </p:nvSpPr>
        <p:spPr>
          <a:xfrm>
            <a:off x="188396" y="1892594"/>
            <a:ext cx="5720317" cy="4625163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(themeToggle){</a:t>
            </a: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updateIcon();</a:t>
            </a: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themeToggle.addEventListener("click", () =&gt; {</a:t>
            </a: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document.body.classList.toggle("light-mode");</a:t>
            </a: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if ( document.body.classList.contains("light-mode")){</a:t>
            </a: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localStorage.setItem("theme", "light");</a:t>
            </a: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}else{</a:t>
            </a: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     localStorage.setItem("theme", "dark");</a:t>
            </a: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}</a:t>
            </a: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  updateIcon();</a:t>
            </a: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});</a:t>
            </a: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6262577" y="1789129"/>
            <a:ext cx="550766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----Lorsque l’utilisateur clique sur le bouton , la classe light-mode est ajoutée ou retirée .Ensuite, une condition </a:t>
            </a:r>
            <a:r>
              <a:rPr lang="fr-FR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fr-FR" sz="28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vérifie quel thème est actif. Le thème choisi est ensuite enregistrer dans </a:t>
            </a:r>
            <a:r>
              <a:rPr lang="fr-FR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localStorage</a:t>
            </a:r>
            <a:r>
              <a:rPr lang="fr-FR" sz="28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pour qu’il soit conservé même si la page est rechargée. Enfin , la fonction </a:t>
            </a:r>
            <a:r>
              <a:rPr lang="fr-FR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 ( ) </a:t>
            </a:r>
            <a:r>
              <a:rPr lang="fr-FR" sz="28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 à jour l’icone du bouton pour qu’elle corresponde au thème sélectionné.</a:t>
            </a:r>
            <a:endParaRPr lang="fr-FR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311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86809" y="1268427"/>
            <a:ext cx="6096000" cy="440120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Bootstrap a été utilisé pour faciliter la mise en page du site. Il permet de créer une interface responsive rapidement grâce à son système de grille et ses composants.</a:t>
            </a:r>
          </a:p>
          <a:p>
            <a:r>
              <a:rPr lang="fr-FR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Utilisations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Navbar (menu de navigation)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Grille (layout responsive)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Boutons stylisés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Cartes (cards)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7162407" y="902981"/>
            <a:ext cx="4774018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 CSS est utilisé pour personnaliser le design du site et améliorer l’expérience utilisateur</a:t>
            </a:r>
            <a:r>
              <a:rPr lang="fr-FR" sz="28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fr-FR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Fonctionnalités CSS :</a:t>
            </a:r>
          </a:p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Media queries pour le responsive design </a:t>
            </a:r>
          </a:p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Flexbox pour l’alignement des éléments </a:t>
            </a:r>
          </a:p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Effets au survol (hover) </a:t>
            </a:r>
          </a:p>
          <a:p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Styles du thème clair/sombre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08856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708297" y="341369"/>
            <a:ext cx="8860465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2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5-GitHub </a:t>
            </a:r>
            <a:r>
              <a:rPr lang="fr-FR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historique des commits, workflow Git, lien GitHub Pages</a:t>
            </a: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017" y="1584252"/>
            <a:ext cx="4667695" cy="3955312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744279" y="5705229"/>
            <a:ext cx="956969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PAGES</a:t>
            </a:r>
          </a:p>
          <a:p>
            <a:r>
              <a:rPr lang="fr-FR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 projet es t hébergé en ligne pour une démonstration directe .L’URL publique permet l’</a:t>
            </a:r>
            <a:r>
              <a:rPr lang="fr-FR" dirty="0" err="1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accés</a:t>
            </a:r>
            <a:r>
              <a:rPr lang="fr-FR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instantannée au 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site fonctionnel </a:t>
            </a:r>
            <a:r>
              <a:rPr lang="fr-FR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fr-FR" b="1" dirty="0"/>
              <a:t> </a:t>
            </a:r>
            <a:r>
              <a:rPr lang="fr-FR" b="1" u="sng" dirty="0">
                <a:hlinkClick r:id="rId4"/>
              </a:rPr>
              <a:t>https://maimounaboye.github.io/Boye-SokhnaMaimouna-AfriTalent/</a:t>
            </a:r>
            <a:r>
              <a:rPr lang="fr-FR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 action="ppaction://hlinksldjump"/>
              </a:rPr>
              <a:t>/</a:t>
            </a:r>
            <a:endParaRPr lang="fr-F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4667" y="1774243"/>
            <a:ext cx="4368800" cy="259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510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600678" y="341646"/>
            <a:ext cx="777520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4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6-Difficultés </a:t>
            </a:r>
            <a:r>
              <a:rPr lang="fr-FR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rencontrées et </a:t>
            </a:r>
            <a:r>
              <a:rPr lang="fr-FR" sz="4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solutions</a:t>
            </a:r>
            <a:endParaRPr lang="fr-FR" dirty="0"/>
          </a:p>
        </p:txBody>
      </p:sp>
      <p:sp>
        <p:nvSpPr>
          <p:cNvPr id="9" name="Rectangle à coins arrondis 8"/>
          <p:cNvSpPr/>
          <p:nvPr/>
        </p:nvSpPr>
        <p:spPr>
          <a:xfrm>
            <a:off x="659219" y="1472317"/>
            <a:ext cx="4497572" cy="5220586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à coins arrondis 9"/>
          <p:cNvSpPr/>
          <p:nvPr/>
        </p:nvSpPr>
        <p:spPr>
          <a:xfrm>
            <a:off x="6985589" y="1403498"/>
            <a:ext cx="4496400" cy="5220000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2" name="ZoneTexte 11"/>
          <p:cNvSpPr txBox="1"/>
          <p:nvPr/>
        </p:nvSpPr>
        <p:spPr>
          <a:xfrm>
            <a:off x="1270591" y="1616149"/>
            <a:ext cx="327482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u="sng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Difficultés</a:t>
            </a:r>
            <a:endParaRPr lang="fr-FR" sz="3200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ZoneTexte 12"/>
          <p:cNvSpPr txBox="1"/>
          <p:nvPr/>
        </p:nvSpPr>
        <p:spPr>
          <a:xfrm>
            <a:off x="8027582" y="1472317"/>
            <a:ext cx="21796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b="1" u="sng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Solutions</a:t>
            </a:r>
            <a:endParaRPr lang="fr-FR" sz="3200" b="1" u="sng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831998" y="2479913"/>
            <a:ext cx="415201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CAS1:Rendre </a:t>
            </a:r>
            <a:r>
              <a:rPr lang="fr-FR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éléments du site modernes avec des effets de transparence et des contrastes (comme un menu sombre) tout en gardant le texte bien lisible.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831998" y="4461763"/>
            <a:ext cx="404037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CAS2 : </a:t>
            </a:r>
            <a:r>
              <a:rPr lang="fr-FR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Certaines modifications CSS personnalisées ne s'appliquaient pas sur le site parce que le style de base de Bootstrap prenait le </a:t>
            </a:r>
            <a:r>
              <a:rPr lang="fr-FR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dessus</a:t>
            </a:r>
            <a:endParaRPr lang="fr-FR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ZoneTexte 19"/>
          <p:cNvSpPr txBox="1"/>
          <p:nvPr/>
        </p:nvSpPr>
        <p:spPr>
          <a:xfrm>
            <a:off x="7283302" y="2479913"/>
            <a:ext cx="354064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bg1"/>
                </a:solidFill>
              </a:rPr>
              <a:t>Solution1:Utilisation ciblée de propriété CSS spécifiques(comme opacités) et des tests de couleurs pour que le rendu reste propre et professionnel. 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24" name="ZoneTexte 23"/>
          <p:cNvSpPr txBox="1"/>
          <p:nvPr/>
        </p:nvSpPr>
        <p:spPr>
          <a:xfrm>
            <a:off x="7374263" y="4380061"/>
            <a:ext cx="370013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Solution2:</a:t>
            </a:r>
            <a:r>
              <a:rPr lang="fr-FR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Utilisation de sélecteurs CSS plus précis dans mon fichier pour forcer mes propres styles à écraser </a:t>
            </a:r>
            <a:r>
              <a:rPr lang="fr-FR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ceux </a:t>
            </a:r>
            <a:r>
              <a:rPr lang="fr-FR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Bootstrap </a:t>
            </a:r>
            <a:r>
              <a:rPr lang="fr-FR" sz="2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sans </a:t>
            </a:r>
            <a:r>
              <a:rPr lang="fr-FR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casser la structure.</a:t>
            </a:r>
          </a:p>
        </p:txBody>
      </p:sp>
    </p:spTree>
    <p:extLst>
      <p:ext uri="{BB962C8B-B14F-4D97-AF65-F5344CB8AC3E}">
        <p14:creationId xmlns:p14="http://schemas.microsoft.com/office/powerpoint/2010/main" val="2416472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695916" y="299116"/>
            <a:ext cx="758412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6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7-Ressources </a:t>
            </a:r>
            <a:r>
              <a:rPr lang="fr-FR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 documentation utilisées</a:t>
            </a:r>
          </a:p>
        </p:txBody>
      </p:sp>
      <p:sp>
        <p:nvSpPr>
          <p:cNvPr id="7" name="Rectangle à coins arrondis 6"/>
          <p:cNvSpPr/>
          <p:nvPr/>
        </p:nvSpPr>
        <p:spPr>
          <a:xfrm>
            <a:off x="244549" y="2036134"/>
            <a:ext cx="2838893" cy="3646967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2400" b="1" dirty="0" smtClean="0">
              <a:solidFill>
                <a:schemeClr val="bg1"/>
              </a:solidFill>
              <a:latin typeface="Urbanist"/>
            </a:endParaRPr>
          </a:p>
          <a:p>
            <a:endParaRPr lang="fr-FR" sz="2400" b="1" dirty="0">
              <a:solidFill>
                <a:schemeClr val="bg1"/>
              </a:solidFill>
              <a:latin typeface="Urbanist"/>
            </a:endParaRPr>
          </a:p>
          <a:p>
            <a:r>
              <a:rPr lang="fr-FR" sz="2400" b="1" dirty="0" smtClean="0">
                <a:solidFill>
                  <a:schemeClr val="bg1"/>
                </a:solidFill>
                <a:latin typeface="Urbanist"/>
              </a:rPr>
              <a:t>Bootstrap 5</a:t>
            </a:r>
          </a:p>
          <a:p>
            <a:r>
              <a:rPr lang="fr-FR" sz="2400" dirty="0" smtClean="0">
                <a:solidFill>
                  <a:schemeClr val="bg1"/>
                </a:solidFill>
                <a:latin typeface="Urbanist"/>
              </a:rPr>
              <a:t>Pour </a:t>
            </a:r>
            <a:r>
              <a:rPr lang="fr-FR" sz="2400" dirty="0">
                <a:solidFill>
                  <a:schemeClr val="bg1"/>
                </a:solidFill>
                <a:latin typeface="Urbanist"/>
              </a:rPr>
              <a:t>la structure Grid System et les composants interactifs (Navbar, Modals)</a:t>
            </a:r>
          </a:p>
        </p:txBody>
      </p:sp>
      <p:sp>
        <p:nvSpPr>
          <p:cNvPr id="8" name="Rectangle à coins arrondis 7"/>
          <p:cNvSpPr/>
          <p:nvPr/>
        </p:nvSpPr>
        <p:spPr>
          <a:xfrm>
            <a:off x="4374133" y="2052081"/>
            <a:ext cx="2840400" cy="364680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Google 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Fonts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Intégration de la police "Urbanist" pour l'aspect moderne et épuré</a:t>
            </a:r>
          </a:p>
        </p:txBody>
      </p:sp>
      <p:sp>
        <p:nvSpPr>
          <p:cNvPr id="9" name="Rectangle à coins arrondis 8"/>
          <p:cNvSpPr/>
          <p:nvPr/>
        </p:nvSpPr>
        <p:spPr>
          <a:xfrm>
            <a:off x="8641942" y="1913860"/>
            <a:ext cx="2840400" cy="3646800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MDN 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Docs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Référence principale pour la syntaxe JavaScript et les propriétés CSS avancées</a:t>
            </a:r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832" y="2428306"/>
            <a:ext cx="645154" cy="491546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9487" y="2341930"/>
            <a:ext cx="677425" cy="664297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5379" y="2341931"/>
            <a:ext cx="764677" cy="465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611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463024" y="150259"/>
            <a:ext cx="604364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4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8-Démonstration </a:t>
            </a:r>
            <a:r>
              <a:rPr lang="fr-FR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 du site</a:t>
            </a:r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0342" y="999461"/>
            <a:ext cx="4058458" cy="1921176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1218" y="1469137"/>
            <a:ext cx="3477890" cy="1637950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0372" y="4341038"/>
            <a:ext cx="3154789" cy="1506790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0342" y="3817088"/>
            <a:ext cx="4410333" cy="2030740"/>
          </a:xfrm>
          <a:prstGeom prst="rect">
            <a:avLst/>
          </a:prstGeom>
        </p:spPr>
      </p:pic>
      <p:sp>
        <p:nvSpPr>
          <p:cNvPr id="16" name="ZoneTexte 15"/>
          <p:cNvSpPr txBox="1"/>
          <p:nvPr/>
        </p:nvSpPr>
        <p:spPr>
          <a:xfrm>
            <a:off x="223284" y="1754596"/>
            <a:ext cx="251991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 smtClean="0">
                <a:solidFill>
                  <a:schemeClr val="bg1"/>
                </a:solidFill>
              </a:rPr>
              <a:t>Le lien du site :</a:t>
            </a:r>
          </a:p>
          <a:p>
            <a:r>
              <a:rPr lang="fr-FR" b="1" dirty="0"/>
              <a:t> </a:t>
            </a:r>
            <a:r>
              <a:rPr lang="fr-FR" b="1" u="sng" dirty="0">
                <a:hlinkClick r:id="rId6"/>
              </a:rPr>
              <a:t>https://maimounaboye.github.io/Boye-SokhnaMaimouna-AfriTalent/</a:t>
            </a:r>
            <a:endParaRPr lang="fr-FR" sz="2800" dirty="0">
              <a:solidFill>
                <a:schemeClr val="bg1"/>
              </a:solidFill>
            </a:endParaRPr>
          </a:p>
        </p:txBody>
      </p:sp>
      <p:pic>
        <p:nvPicPr>
          <p:cNvPr id="17" name="Imag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3347" y="4657621"/>
            <a:ext cx="3551844" cy="1668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114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480980" y="433401"/>
            <a:ext cx="1007840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4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9-Conclusion </a:t>
            </a:r>
            <a:r>
              <a:rPr lang="fr-FR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 perspectives d'amélioration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1733" y="2043837"/>
            <a:ext cx="9787467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sz="3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 conclusion, ce projet m'a permis de développer une méthodologie de travail beaucoup plus rigoureuse. Face aux obstacles techniques et d'organisation, j'ai appris à analyser précisément les erreurs et à structurer mon code de manière propre. Ce travail m'a donné une meilleure maîtrise des technologies front-end et de l'intégration des frameworks.</a:t>
            </a:r>
          </a:p>
        </p:txBody>
      </p:sp>
    </p:spTree>
    <p:extLst>
      <p:ext uri="{BB962C8B-B14F-4D97-AF65-F5344CB8AC3E}">
        <p14:creationId xmlns:p14="http://schemas.microsoft.com/office/powerpoint/2010/main" val="801417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090580" y="653534"/>
            <a:ext cx="8759129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4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6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Perspectives </a:t>
            </a:r>
            <a:r>
              <a:rPr lang="fr-FR" sz="6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d'amélioration</a:t>
            </a:r>
          </a:p>
        </p:txBody>
      </p:sp>
      <p:sp>
        <p:nvSpPr>
          <p:cNvPr id="9" name="Rectangle à coins arrondis 8"/>
          <p:cNvSpPr/>
          <p:nvPr/>
        </p:nvSpPr>
        <p:spPr>
          <a:xfrm>
            <a:off x="660400" y="2150533"/>
            <a:ext cx="4605867" cy="4097867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Automatisation des tâches </a:t>
            </a:r>
            <a:r>
              <a:rPr lang="fr-FR" sz="2800" b="1" dirty="0"/>
              <a:t>:</a:t>
            </a:r>
            <a:r>
              <a:rPr lang="fr-FR" sz="2800" dirty="0"/>
              <a:t> Approfondir l'utilisation d'outils numériques et de scripts pour générer des documents ou gérer les données plus rapidement et sans erreur.</a:t>
            </a:r>
          </a:p>
        </p:txBody>
      </p:sp>
      <p:sp>
        <p:nvSpPr>
          <p:cNvPr id="10" name="Rectangle à coins arrondis 9"/>
          <p:cNvSpPr/>
          <p:nvPr/>
        </p:nvSpPr>
        <p:spPr>
          <a:xfrm>
            <a:off x="7027333" y="2150533"/>
            <a:ext cx="4792134" cy="3979334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u="sng" dirty="0"/>
              <a:t>Optimisation et nettoyage du code </a:t>
            </a:r>
            <a:r>
              <a:rPr lang="fr-FR" b="1" dirty="0"/>
              <a:t>: </a:t>
            </a:r>
            <a:r>
              <a:rPr lang="fr-FR" sz="2800" dirty="0"/>
              <a:t>Continuer à structurer le code en supprimant les lignes redondantes pour rendre le projet encore plus léger et facile à maintenir</a:t>
            </a:r>
          </a:p>
        </p:txBody>
      </p:sp>
    </p:spTree>
    <p:extLst>
      <p:ext uri="{BB962C8B-B14F-4D97-AF65-F5344CB8AC3E}">
        <p14:creationId xmlns:p14="http://schemas.microsoft.com/office/powerpoint/2010/main" val="757098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1607</TotalTime>
  <Words>773</Words>
  <Application>Microsoft Office PowerPoint</Application>
  <PresentationFormat>Grand écran</PresentationFormat>
  <Paragraphs>109</Paragraphs>
  <Slides>15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Consolas</vt:lpstr>
      <vt:lpstr>Times New Roman</vt:lpstr>
      <vt:lpstr>Urbanist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sokhna Maimouna Boye</dc:creator>
  <cp:lastModifiedBy>sokhna Maimouna Boye</cp:lastModifiedBy>
  <cp:revision>53</cp:revision>
  <dcterms:created xsi:type="dcterms:W3CDTF">2026-06-29T06:50:49Z</dcterms:created>
  <dcterms:modified xsi:type="dcterms:W3CDTF">2026-07-03T01:32:47Z</dcterms:modified>
</cp:coreProperties>
</file>